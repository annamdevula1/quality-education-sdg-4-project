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9" r:id="rId9"/>
    <p:sldId id="270" r:id="rId10"/>
    <p:sldId id="263" r:id="rId11"/>
    <p:sldId id="264" r:id="rId12"/>
    <p:sldId id="265" r:id="rId13"/>
    <p:sldId id="266" r:id="rId14"/>
    <p:sldId id="267" r:id="rId15"/>
    <p:sldId id="271" r:id="rId16"/>
    <p:sldId id="279" r:id="rId17"/>
    <p:sldId id="280" r:id="rId18"/>
    <p:sldId id="281" r:id="rId19"/>
    <p:sldId id="282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321635-986E-4E4B-8FE0-A1A44842FB07}" v="83" dt="2026-09-11T07:56:58.8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namdevula1/Quality-Education-SDG-4-Project.git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01E2-C718-4F46-65C6-560F65D0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00303"/>
          </a:xfr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EduAI</a:t>
            </a:r>
            <a:r>
              <a:rPr lang="en-US" sz="3600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- AI-Powered Early Warning And Academic Support System.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A9A19-929D-EE00-0364-E19D0F55CF91}"/>
              </a:ext>
            </a:extLst>
          </p:cNvPr>
          <p:cNvSpPr txBox="1"/>
          <p:nvPr/>
        </p:nvSpPr>
        <p:spPr>
          <a:xfrm>
            <a:off x="840980" y="1718228"/>
            <a:ext cx="8411226" cy="58477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  <a:latin typeface="Arial"/>
                <a:cs typeface="Arial"/>
              </a:rPr>
              <a:t>SDG- 4- Quality Education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84F490-A560-5C91-867B-21AF5AF32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" y="2463452"/>
            <a:ext cx="12186779" cy="438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77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B9D8B-D539-06D8-0B7E-85F5401CE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036" y="562584"/>
            <a:ext cx="11601188" cy="61467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PROJECT TITLE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EduAI- AI Early Warning System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NAME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Durga Prasad Annamdevula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COURSE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BCA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COLLEGE NAME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Aditya Degree College Rajamahendravaram</a:t>
            </a:r>
            <a:endParaRPr lang="en-US" sz="2400" b="1">
              <a:solidFill>
                <a:schemeClr val="tx2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                                           Adikavi Nannayya University</a:t>
            </a:r>
          </a:p>
          <a:p>
            <a:pPr marL="0" indent="0">
              <a:buNone/>
            </a:pPr>
            <a:r>
              <a:rPr lang="en-US" sz="3600" b="1" dirty="0">
                <a:latin typeface="Arial"/>
                <a:cs typeface="Arial"/>
              </a:rPr>
              <a:t> </a:t>
            </a: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AICTE EMAIL- ID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durgaprasadannamdevula41@gmail.com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INTERNSHIP NAME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1M1B AI for Sustainability Virtual Internship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COLLABORATION</a:t>
            </a:r>
            <a:r>
              <a:rPr lang="en-US" sz="3600" b="1" dirty="0">
                <a:solidFill>
                  <a:schemeClr val="accent2"/>
                </a:solidFill>
                <a:latin typeface="Arial"/>
                <a:cs typeface="Arial"/>
              </a:rPr>
              <a:t>:</a:t>
            </a:r>
            <a:r>
              <a:rPr lang="en-US" sz="3600" b="1" dirty="0">
                <a:latin typeface="Arial"/>
                <a:cs typeface="Arial"/>
              </a:rPr>
              <a:t>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IBM SkillsBuild And AICTE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SDG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SDG 4- Quality Education</a:t>
            </a:r>
          </a:p>
          <a:p>
            <a:pPr marL="0" indent="0">
              <a:buNone/>
            </a:pPr>
            <a:endParaRPr lang="en-US" sz="36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5535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61CB9-D8B2-C63E-794E-5E958921F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Project Description: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B7328-571B-35F1-8EB1-E5194AEBC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q"/>
            </a:pPr>
            <a:r>
              <a:rPr lang="en-US" sz="2400" b="1" dirty="0">
                <a:latin typeface="Arial"/>
                <a:ea typeface="+mn-lt"/>
                <a:cs typeface="Arial"/>
              </a:rPr>
              <a:t> </a:t>
            </a:r>
            <a:r>
              <a:rPr lang="en-US" sz="2400" dirty="0">
                <a:latin typeface="Arial"/>
                <a:ea typeface="+mn-lt"/>
                <a:cs typeface="Arial"/>
              </a:rPr>
              <a:t>EduAI is an AI-powered solution focused on Quality Education</a:t>
            </a:r>
          </a:p>
          <a:p>
            <a:pPr marL="0" indent="0">
              <a:buNone/>
            </a:pPr>
            <a:r>
              <a:rPr lang="en-US" sz="2400" dirty="0">
                <a:latin typeface="Arial"/>
                <a:ea typeface="+mn-lt"/>
                <a:cs typeface="Arial"/>
              </a:rPr>
              <a:t>    (SDG-4).</a:t>
            </a:r>
            <a:endParaRPr lang="en-US" sz="240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It identifies students who are falling behind in their studies at an early stage.</a:t>
            </a:r>
            <a:endParaRPr lang="en-US" sz="240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AI analyzes student academic information to identify students who may need support.</a:t>
            </a:r>
            <a:endParaRPr lang="en-US" sz="240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It helps teachers provide timely and personalized academic guidance.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861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E9DED-B879-1C9D-E49B-E29E5AFB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Calibri"/>
                <a:cs typeface="Arial"/>
              </a:rPr>
              <a:t>SDG Alignment: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28AF6-52E2-12FE-A80B-057A96A89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715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Primary SDG 4 – Quality Education</a:t>
            </a:r>
            <a:endParaRPr lang="en-US" sz="2400" b="1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b="1" dirty="0">
              <a:latin typeface="Arial"/>
              <a:ea typeface="+mn-lt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Identifies students at risk of falling behind in their studies. </a:t>
            </a:r>
            <a:endParaRPr lang="en-US" sz="2400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Enables early academic intervention and support. </a:t>
            </a: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Provides personalized learning guidance. </a:t>
            </a:r>
            <a:endParaRPr lang="en-US" sz="2400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Helps improve student learning outcomes. </a:t>
            </a: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Supports inclusive and equitable quality education. </a:t>
            </a:r>
            <a:endParaRPr 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5101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C3D5-DE9E-C0A4-035C-EA27B37E3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Problem Statement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0600AFA-1F5B-B6E5-9C58-BC728C1D3C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3761" y="1848271"/>
            <a:ext cx="5260039" cy="432845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C0E6F-11FB-C6A3-5700-CF6604819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48036"/>
            <a:ext cx="5248835" cy="432892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dirty="0">
                <a:latin typeface="Arial"/>
                <a:cs typeface="Arial"/>
              </a:rPr>
              <a:t>Identifying Students Who Are Falling Behind In Their Studies At An  Early Stage.</a:t>
            </a:r>
          </a:p>
          <a:p>
            <a:pPr marL="0" indent="0">
              <a:buNone/>
            </a:pP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cs typeface="Arial"/>
              </a:rPr>
              <a:t>Late Identification May Delay The Academic Support They Need.</a:t>
            </a:r>
          </a:p>
          <a:p>
            <a:pPr marL="0" indent="0">
              <a:buNone/>
            </a:pPr>
            <a:endParaRPr lang="en-US" sz="2400" dirty="0">
              <a:latin typeface="Arial"/>
              <a:ea typeface="+mn-lt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How might we use AI to identify students who are falling behind in their studies at an early stage so that timely academic support can be provided?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824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17BAF-2267-7250-D944-BC15EDB3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AI 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50F47-BEF2-A8DF-9A51-472A0C9D7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Arial"/>
              </a:rPr>
              <a:t>EduAI</a:t>
            </a:r>
            <a:r>
              <a:rPr lang="en-US" dirty="0">
                <a:latin typeface="Arial"/>
                <a:ea typeface="+mn-lt"/>
                <a:cs typeface="Arial"/>
              </a:rPr>
              <a:t> uses </a:t>
            </a:r>
            <a:r>
              <a:rPr lang="en-US" sz="2400" dirty="0">
                <a:latin typeface="Arial"/>
                <a:ea typeface="+mn-lt"/>
                <a:cs typeface="Arial"/>
              </a:rPr>
              <a:t>Artificial Intelligence to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analyze</a:t>
            </a:r>
            <a:r>
              <a:rPr lang="en-US" sz="2400" dirty="0">
                <a:latin typeface="Arial"/>
                <a:ea typeface="+mn-lt"/>
                <a:cs typeface="Arial"/>
              </a:rPr>
              <a:t> student academic information.</a:t>
            </a:r>
            <a:endParaRPr lang="en-US" sz="2400">
              <a:latin typeface="Arial"/>
              <a:cs typeface="Arial"/>
            </a:endParaRPr>
          </a:p>
          <a:p>
            <a:r>
              <a:rPr lang="en-US" dirty="0">
                <a:latin typeface="Arial"/>
                <a:ea typeface="+mn-lt"/>
                <a:cs typeface="Arial"/>
              </a:rPr>
              <a:t> </a:t>
            </a:r>
            <a:r>
              <a:rPr lang="en-US" sz="2400" dirty="0">
                <a:latin typeface="Arial"/>
                <a:ea typeface="+mn-lt"/>
                <a:cs typeface="Arial"/>
              </a:rPr>
              <a:t>It identifies students who may be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falling behind</a:t>
            </a:r>
            <a:r>
              <a:rPr lang="en-US" sz="2400" dirty="0">
                <a:latin typeface="Arial"/>
                <a:ea typeface="+mn-lt"/>
                <a:cs typeface="Arial"/>
              </a:rPr>
              <a:t> in their studies at an early stage.</a:t>
            </a:r>
            <a:endParaRPr lang="en-US" sz="2400">
              <a:latin typeface="Arial"/>
              <a:cs typeface="Arial"/>
            </a:endParaRPr>
          </a:p>
          <a:p>
            <a:r>
              <a:rPr lang="en-US" dirty="0">
                <a:latin typeface="Arial"/>
                <a:ea typeface="+mn-lt"/>
                <a:cs typeface="Arial"/>
              </a:rPr>
              <a:t> </a:t>
            </a:r>
            <a:r>
              <a:rPr lang="en-US" sz="2400" dirty="0">
                <a:latin typeface="Arial"/>
                <a:ea typeface="+mn-lt"/>
                <a:cs typeface="Arial"/>
              </a:rPr>
              <a:t>AI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detects </a:t>
            </a:r>
            <a:r>
              <a:rPr lang="en-US" sz="2400" dirty="0">
                <a:latin typeface="Arial"/>
                <a:ea typeface="+mn-lt"/>
                <a:cs typeface="Arial"/>
              </a:rPr>
              <a:t>patterns that may indicate a need for academic support.</a:t>
            </a:r>
            <a:endParaRPr lang="en-US" sz="240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It provides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early risk</a:t>
            </a:r>
            <a:r>
              <a:rPr lang="en-US" sz="2400" dirty="0">
                <a:latin typeface="Arial"/>
                <a:ea typeface="+mn-lt"/>
                <a:cs typeface="Arial"/>
              </a:rPr>
              <a:t> identification and support recommendations</a:t>
            </a:r>
            <a:r>
              <a:rPr lang="en-US" dirty="0">
                <a:latin typeface="Arial"/>
                <a:ea typeface="+mn-lt"/>
                <a:cs typeface="Arial"/>
              </a:rPr>
              <a:t>.</a:t>
            </a:r>
            <a:endParaRPr lang="en-US">
              <a:latin typeface="Arial"/>
              <a:cs typeface="Arial"/>
            </a:endParaRPr>
          </a:p>
          <a:p>
            <a:r>
              <a:rPr lang="en-US" dirty="0">
                <a:latin typeface="Arial"/>
                <a:ea typeface="+mn-lt"/>
                <a:cs typeface="Arial"/>
              </a:rPr>
              <a:t> </a:t>
            </a:r>
            <a:r>
              <a:rPr lang="en-US" sz="2400" dirty="0">
                <a:latin typeface="Arial"/>
                <a:ea typeface="+mn-lt"/>
                <a:cs typeface="Arial"/>
              </a:rPr>
              <a:t>This helps teachers take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timely and personalized</a:t>
            </a:r>
            <a:r>
              <a:rPr lang="en-US" sz="2400" dirty="0">
                <a:latin typeface="Arial"/>
                <a:ea typeface="+mn-lt"/>
                <a:cs typeface="Arial"/>
              </a:rPr>
              <a:t> academic action.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b="1">
              <a:latin typeface="Arial"/>
              <a:ea typeface="Batang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6015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9FEAE-407E-1BF6-1F84-BF5B0A6DB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Batang"/>
                <a:cs typeface="Arial"/>
              </a:rPr>
              <a:t>Target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390C9-7E42-579E-5B48-9B23ADD51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👩‍🏫 </a:t>
            </a:r>
            <a:r>
              <a:rPr lang="en-US" b="1" dirty="0">
                <a:latin typeface="Arial"/>
                <a:ea typeface="+mn-lt"/>
                <a:cs typeface="Arial"/>
              </a:rPr>
              <a:t>Teachers &amp; Educators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sz="2400" dirty="0">
                <a:latin typeface="Arial"/>
                <a:ea typeface="+mn-lt"/>
                <a:cs typeface="Arial"/>
              </a:rPr>
              <a:t>Early identification of at-risk students.</a:t>
            </a:r>
            <a:endParaRPr lang="en-US" sz="2400">
              <a:latin typeface="Arial"/>
              <a:cs typeface="Arial"/>
            </a:endParaRPr>
          </a:p>
          <a:p>
            <a:r>
              <a:rPr lang="en-US" dirty="0">
                <a:ea typeface="+mn-lt"/>
                <a:cs typeface="+mn-lt"/>
              </a:rPr>
              <a:t>🏫 </a:t>
            </a:r>
            <a:r>
              <a:rPr lang="en-US" b="1" dirty="0">
                <a:latin typeface="Arial"/>
                <a:ea typeface="+mn-lt"/>
                <a:cs typeface="Arial"/>
              </a:rPr>
              <a:t>Schools &amp; Educational Institutions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sz="2400" dirty="0">
                <a:latin typeface="Arial"/>
                <a:ea typeface="+mn-lt"/>
                <a:cs typeface="Arial"/>
              </a:rPr>
              <a:t>Monitoring academic performance.</a:t>
            </a:r>
            <a:endParaRPr lang="en-US" sz="2400">
              <a:latin typeface="Arial"/>
              <a:cs typeface="Arial"/>
            </a:endParaRPr>
          </a:p>
          <a:p>
            <a:r>
              <a:rPr lang="en-US" dirty="0">
                <a:ea typeface="+mn-lt"/>
                <a:cs typeface="+mn-lt"/>
              </a:rPr>
              <a:t>👨‍🎓 </a:t>
            </a:r>
            <a:r>
              <a:rPr lang="en-US" b="1" dirty="0">
                <a:latin typeface="Arial"/>
                <a:ea typeface="+mn-lt"/>
                <a:cs typeface="Arial"/>
              </a:rPr>
              <a:t>Students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sz="2400" dirty="0">
                <a:latin typeface="Arial"/>
                <a:ea typeface="+mn-lt"/>
                <a:cs typeface="Arial"/>
              </a:rPr>
              <a:t>Timely academic support and personalized recommendations.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1812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B322A-ED7B-AC7A-9212-42D56990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Calibri"/>
                <a:cs typeface="Arial"/>
              </a:rPr>
              <a:t>Design Thinking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A0103-B082-2223-E8B5-D92CE85F81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Empathize</a:t>
            </a:r>
            <a:endParaRPr lang="en-US" sz="2400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Understand students' learning challenges and teachers' monitoring difficulties.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Define</a:t>
            </a:r>
            <a:endParaRPr lang="en-US" sz="2400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Identify students who may be falling behind and need timely support.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Ideate</a:t>
            </a:r>
            <a:endParaRPr lang="en-US" sz="2400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Develop an AI-based early warning system to predict student risk levels.</a:t>
            </a:r>
            <a:endParaRPr lang="en-US" sz="2400">
              <a:latin typeface="Arial"/>
              <a:cs typeface="Arial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052708-3AFE-EFE5-7659-5FA9DC9680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156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84781-B602-BDE7-6F85-067EDF4C3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729598"/>
            <a:ext cx="5244229" cy="54473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Prototype</a:t>
            </a:r>
            <a:endParaRPr lang="en-US" sz="2400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Create the </a:t>
            </a:r>
            <a:r>
              <a:rPr lang="en-US" sz="2400" err="1">
                <a:latin typeface="Arial"/>
                <a:ea typeface="+mn-lt"/>
                <a:cs typeface="Arial"/>
              </a:rPr>
              <a:t>EduAI</a:t>
            </a:r>
            <a:r>
              <a:rPr lang="en-US" sz="2400" dirty="0">
                <a:latin typeface="Arial"/>
                <a:ea typeface="+mn-lt"/>
                <a:cs typeface="Arial"/>
              </a:rPr>
              <a:t> prototype with risk classification and personalized recommendations.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b="1" dirty="0">
                <a:latin typeface="Arial"/>
                <a:ea typeface="+mn-lt"/>
                <a:cs typeface="Arial"/>
              </a:rPr>
              <a:t>Test &amp; Refine</a:t>
            </a:r>
            <a:endParaRPr lang="en-US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Test the prototype with synthetic data and improve it based on results and feedback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08F5B7-F0E3-807F-5D13-28A2128552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90366" y="729218"/>
            <a:ext cx="6162803" cy="54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693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F2250-C105-0901-377C-830EE4F6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AI Technology Used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C3A21-3FF3-2E31-5E38-1DB3A20E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>
                <a:latin typeface="Arial"/>
                <a:ea typeface="Calibri"/>
                <a:cs typeface="Arial"/>
              </a:rPr>
              <a:t>IBM BOB – </a:t>
            </a:r>
            <a:r>
              <a:rPr lang="en-US" sz="2400" dirty="0">
                <a:latin typeface="Arial"/>
                <a:ea typeface="Calibri"/>
                <a:cs typeface="Arial"/>
              </a:rPr>
              <a:t>Prototype Development.</a:t>
            </a:r>
          </a:p>
          <a:p>
            <a:r>
              <a:rPr lang="en-US" sz="3200" b="1" dirty="0">
                <a:latin typeface="Arial"/>
                <a:ea typeface="Calibri"/>
                <a:cs typeface="Arial"/>
              </a:rPr>
              <a:t>IBM Granite- </a:t>
            </a:r>
            <a:r>
              <a:rPr lang="en-US" sz="2400" dirty="0">
                <a:latin typeface="Arial"/>
                <a:ea typeface="Calibri"/>
                <a:cs typeface="Arial"/>
              </a:rPr>
              <a:t>Generative AI</a:t>
            </a:r>
            <a:r>
              <a:rPr lang="en-US" sz="2400" b="1" dirty="0">
                <a:latin typeface="Arial"/>
                <a:ea typeface="Calibri"/>
                <a:cs typeface="Arial"/>
              </a:rPr>
              <a:t>.</a:t>
            </a:r>
          </a:p>
          <a:p>
            <a:r>
              <a:rPr lang="en-US" sz="3200" b="1" dirty="0">
                <a:latin typeface="Arial"/>
                <a:ea typeface="Calibri"/>
                <a:cs typeface="Arial"/>
              </a:rPr>
              <a:t>IBM watsonx.ai - </a:t>
            </a:r>
            <a:r>
              <a:rPr lang="en-US" sz="2400" dirty="0">
                <a:latin typeface="Arial"/>
                <a:ea typeface="Calibri"/>
                <a:cs typeface="Arial"/>
              </a:rPr>
              <a:t>AI Model Integration.</a:t>
            </a:r>
            <a:endParaRPr lang="en-US" sz="3200" dirty="0">
              <a:latin typeface="Arial"/>
              <a:ea typeface="Calibri"/>
              <a:cs typeface="Arial"/>
            </a:endParaRPr>
          </a:p>
          <a:p>
            <a:r>
              <a:rPr lang="en-US" sz="3200" b="1" dirty="0">
                <a:latin typeface="Arial"/>
                <a:ea typeface="Calibri"/>
                <a:cs typeface="Arial"/>
              </a:rPr>
              <a:t>Scikit-Learn – </a:t>
            </a:r>
            <a:r>
              <a:rPr lang="en-US" sz="2400" dirty="0">
                <a:latin typeface="Arial"/>
                <a:ea typeface="Calibri"/>
                <a:cs typeface="Arial"/>
              </a:rPr>
              <a:t>Machine Learning And Risk Classification.</a:t>
            </a:r>
            <a:endParaRPr lang="en-US" sz="2400">
              <a:latin typeface="Arial"/>
              <a:cs typeface="Arial"/>
            </a:endParaRPr>
          </a:p>
          <a:p>
            <a:r>
              <a:rPr lang="en-US" sz="3200" b="1" dirty="0">
                <a:latin typeface="Arial"/>
                <a:ea typeface="Calibri"/>
                <a:cs typeface="Arial"/>
              </a:rPr>
              <a:t>Prompt Engineering</a:t>
            </a:r>
            <a:r>
              <a:rPr lang="en-US" sz="2400" b="1" dirty="0">
                <a:latin typeface="Arial"/>
                <a:ea typeface="Calibri"/>
                <a:cs typeface="Arial"/>
              </a:rPr>
              <a:t> -</a:t>
            </a:r>
            <a:r>
              <a:rPr lang="en-US" sz="2400" dirty="0">
                <a:latin typeface="Arial"/>
                <a:ea typeface="Calibri"/>
                <a:cs typeface="Arial"/>
              </a:rPr>
              <a:t> AI Interaction And Guidance</a:t>
            </a:r>
            <a:r>
              <a:rPr lang="en-US" sz="2400" b="1" dirty="0">
                <a:latin typeface="Arial"/>
                <a:ea typeface="Calibri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3402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7546F-E143-F711-D695-2401810C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Project Workflow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6D1FA4-1C1C-6E4E-A0E4-ADE24FBD58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672" y="1551760"/>
            <a:ext cx="11336054" cy="495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6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C2645-077C-0028-49C1-0C1FA7850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285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AI Workflow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046862-DFE1-3E7E-AD20-386B40D814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069" y="1395185"/>
            <a:ext cx="10814137" cy="509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594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47C837-CCB5-A87A-F899-8D51FD434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069" y="439399"/>
            <a:ext cx="10657561" cy="605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26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4EFFD-F837-FAED-96D9-C945F923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Project 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8E0BCD-64CA-CB64-E7D8-C9E5B92F9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070" y="1527404"/>
            <a:ext cx="10521860" cy="447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900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10DB-0855-55D2-5461-E1FD6E57C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62" y="365125"/>
            <a:ext cx="10526038" cy="134643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Calibri"/>
                <a:cs typeface="Arial"/>
              </a:rPr>
              <a:t>Prototype 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90539D-4E8E-1A20-1930-4A2F736C2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2339" y="1419287"/>
            <a:ext cx="10386645" cy="485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35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A5F91F-D81E-A92A-DD48-0FF264D71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703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B11DB5-D9DB-9E40-FD4A-9B1FADE6F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230" y="0"/>
            <a:ext cx="123092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731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352A83-9510-40EC-6AF8-B257F57E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94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BBC37E-FED5-1CDD-4838-67FC87072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56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E269-458A-CC12-67E8-D60432601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Responsible AI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F42D5-8CE6-807D-9DF2-6A8B215D4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Fairness :</a:t>
            </a:r>
          </a:p>
          <a:p>
            <a:pPr marL="457200" indent="-457200"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cs typeface="Arial"/>
              </a:rPr>
              <a:t>Student risk predictions should be free from unfair bias. </a:t>
            </a:r>
          </a:p>
          <a:p>
            <a:pPr marL="342900" indent="-342900"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cs typeface="Arial"/>
              </a:rPr>
              <a:t>Different backgrounds or learning conditions should not unfairly affect predictions. </a:t>
            </a:r>
            <a:endParaRPr lang="en-US" sz="2400" b="1" dirty="0">
              <a:latin typeface="Arial"/>
              <a:cs typeface="Arial"/>
            </a:endParaRPr>
          </a:p>
          <a:p>
            <a:pPr>
              <a:buNone/>
            </a:pPr>
            <a:r>
              <a:rPr lang="en-US" dirty="0"/>
              <a:t> </a:t>
            </a:r>
            <a:r>
              <a:rPr lang="en-US" sz="2400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Transparency</a:t>
            </a:r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</a:rPr>
              <a:t> :</a:t>
            </a:r>
            <a:endParaRPr lang="en-US" sz="2400" b="1" dirty="0">
              <a:solidFill>
                <a:schemeClr val="tx2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 marL="457200" indent="-457200"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cs typeface="Arial"/>
              </a:rPr>
              <a:t>The system should clearly communicate why a student is identified  as On Track, Needs Attention, or At Risk. </a:t>
            </a:r>
          </a:p>
          <a:p>
            <a:pPr marL="342900" indent="-342900"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cs typeface="Arial"/>
              </a:rPr>
              <a:t>Teachers should be able to understand and review AI-generated recommendations. </a:t>
            </a:r>
            <a:endParaRPr lang="en-US" sz="2400" b="1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945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67B82-3369-34CA-21A7-17120425E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</a:t>
            </a:r>
            <a:r>
              <a:rPr lang="en-US" sz="2400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ea typeface="+mn-lt"/>
                <a:cs typeface="Arial"/>
              </a:rPr>
              <a:t>Privacy:</a:t>
            </a:r>
            <a:endParaRPr lang="en-US" sz="2400" b="1" dirty="0">
              <a:solidFill>
                <a:schemeClr val="tx2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Protect students' academic and personal information.</a:t>
            </a: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Use only necessary data and avoid exposing sensitive student details.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ea typeface="+mn-lt"/>
                <a:cs typeface="Arial"/>
              </a:rPr>
              <a:t>Ethics: </a:t>
            </a:r>
            <a:endParaRPr lang="en-US" sz="2400" b="1" dirty="0">
              <a:solidFill>
                <a:schemeClr val="tx2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AI should support teachers, not replace human judgment.</a:t>
            </a:r>
            <a:endParaRPr lang="en-US" sz="240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Predictions should not be used to label, punish, or discriminate against  students.</a:t>
            </a: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Final intervention decisions should involve teachers/mentors.</a:t>
            </a:r>
            <a:endParaRPr 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8978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3176-EDE2-C8C7-D09D-BD139799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Expected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1AE67-AA1F-5C38-D6B5-37C57F38A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7492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Early Identification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b="1" dirty="0">
              <a:latin typeface="Arial"/>
              <a:ea typeface="+mn-lt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Identify students who may be falling behind at an early stage.</a:t>
            </a:r>
            <a:endParaRPr lang="en-US" sz="2400" b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Timely Support</a:t>
            </a:r>
            <a:r>
              <a:rPr lang="en-US" dirty="0">
                <a:solidFill>
                  <a:srgbClr val="7030A0"/>
                </a:solidFill>
                <a:ea typeface="+mn-lt"/>
                <a:cs typeface="+mn-lt"/>
              </a:rPr>
              <a:t>: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 </a:t>
            </a:r>
            <a:r>
              <a:rPr lang="en-US" sz="2400" dirty="0">
                <a:latin typeface="Arial"/>
                <a:ea typeface="+mn-lt"/>
                <a:cs typeface="Arial"/>
              </a:rPr>
              <a:t>Help teachers provide timely support to students who need attention.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Reduced Learning Gaps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Support students in overcoming learning difficulties and gaps.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Improved Learning Outcomes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 </a:t>
            </a:r>
            <a:r>
              <a:rPr lang="en-US" sz="2400" dirty="0">
                <a:latin typeface="Arial"/>
                <a:ea typeface="+mn-lt"/>
                <a:cs typeface="Arial"/>
              </a:rPr>
              <a:t>Contribute to better academic performance and student success.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Inclusive &amp; Sustainable Education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Promote equal learning opportunities and contribute to a more inclusive and sustainable education system.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9852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A57E2-227C-5BA1-A32B-A06CB9FC8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Impact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577B9-A745-9F57-7BA5-D93C9F38F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Early Support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/>
          </a:p>
          <a:p>
            <a:r>
              <a:rPr lang="en-US" sz="2400" dirty="0">
                <a:latin typeface="Arial"/>
                <a:ea typeface="+mn-lt"/>
                <a:cs typeface="Arial"/>
              </a:rPr>
              <a:t>Students receive support before learning gaps become larger.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Better Teaching Decisions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r>
              <a:rPr lang="en-US" sz="2400" dirty="0">
                <a:latin typeface="Arial"/>
                <a:ea typeface="+mn-lt"/>
                <a:cs typeface="Arial"/>
              </a:rPr>
              <a:t>Teachers can focus on students who need additional attention.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Reduced Learning Gaps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r>
              <a:rPr lang="en-US" sz="2400" dirty="0">
                <a:ea typeface="+mn-lt"/>
                <a:cs typeface="+mn-lt"/>
              </a:rPr>
              <a:t>Early intervention can help improve student learning outcomes.</a:t>
            </a:r>
            <a:endParaRPr lang="en-US" sz="2400"/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Inclusive Education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r>
              <a:rPr lang="en-US" sz="2400" dirty="0">
                <a:latin typeface="Arial"/>
                <a:ea typeface="+mn-lt"/>
                <a:cs typeface="Arial"/>
              </a:rPr>
              <a:t>Students get more equal opportunities to succeed.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Sustainable Education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r>
              <a:rPr lang="en-US" dirty="0">
                <a:ea typeface="+mn-lt"/>
                <a:cs typeface="+mn-lt"/>
              </a:rPr>
              <a:t> </a:t>
            </a:r>
            <a:r>
              <a:rPr lang="en-US" sz="2400" dirty="0">
                <a:latin typeface="Arial"/>
                <a:ea typeface="+mn-lt"/>
                <a:cs typeface="Arial"/>
              </a:rPr>
              <a:t>Supports a more inclusive, equitable, and sustainable education system.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6534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0FB2-19AC-3BF7-683D-44631E87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Calibri"/>
                <a:cs typeface="Arial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68629-46A5-09B5-F273-13A311C6FC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Arial"/>
                <a:ea typeface="+mn-lt"/>
                <a:cs typeface="Arial"/>
              </a:rPr>
              <a:t>Helps identify students who need support at an early stage. 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Supports teachers in making better academic decisions. 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Provides personalized recommendations using AI. 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Helps reduce learning gaps and improve student outcomes. 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Contributes to inclusive, equitable, and sustainable education.</a:t>
            </a:r>
            <a:endParaRPr lang="en-US" sz="2400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dirty="0">
              <a:latin typeface="Arial"/>
              <a:cs typeface="Arial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22DDE4-4CE6-023C-419D-886A4B87A6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20009" y="1846122"/>
            <a:ext cx="5233791" cy="388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744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4D281-3BF9-0AB8-E63D-2B574FE3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>
                <a:latin typeface="Arial"/>
                <a:ea typeface="等线"/>
                <a:cs typeface="Arial"/>
              </a:rPr>
              <a:t>Github</a:t>
            </a:r>
            <a:r>
              <a:rPr lang="en-US" sz="3200" b="1" dirty="0">
                <a:latin typeface="Arial"/>
                <a:ea typeface="等线"/>
                <a:cs typeface="Arial"/>
              </a:rPr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BDFFC-186C-B012-D23C-F3FCB6AC4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164"/>
            <a:ext cx="10515600" cy="45857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solidFill>
                  <a:schemeClr val="accent5"/>
                </a:solidFill>
                <a:latin typeface="Arial"/>
                <a:ea typeface="+mn-lt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https://github.com/Annamdevula1/Quality-Education-SDG-4-Project.git</a:t>
            </a:r>
            <a:endParaRPr lang="en-US" sz="2400">
              <a:solidFill>
                <a:schemeClr val="accent5"/>
              </a:solidFill>
              <a:latin typeface="Arial"/>
              <a:ea typeface="+mn-lt"/>
              <a:cs typeface="Arial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endParaRPr lang="en-US" sz="2400" dirty="0">
              <a:solidFill>
                <a:schemeClr val="accent5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7171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E545E-FD82-5DBC-DA69-89D108CC1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3582" y="929155"/>
            <a:ext cx="5484158" cy="52478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3600" b="1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3600" b="1" dirty="0">
              <a:solidFill>
                <a:schemeClr val="accent5">
                  <a:lumMod val="76000"/>
                </a:schemeClr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 sz="3600" b="1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3600" b="1" dirty="0">
                <a:latin typeface="Arial"/>
                <a:cs typeface="Arial"/>
              </a:rPr>
              <a:t>     " </a:t>
            </a:r>
            <a:r>
              <a:rPr lang="en-US" sz="3600" b="1" dirty="0">
                <a:solidFill>
                  <a:schemeClr val="accent5">
                    <a:lumMod val="76000"/>
                  </a:schemeClr>
                </a:solidFill>
                <a:latin typeface="Arial"/>
                <a:cs typeface="Arial"/>
              </a:rPr>
              <a:t>THANK YOU </a:t>
            </a:r>
            <a:r>
              <a:rPr lang="en-US" sz="3600" b="1" dirty="0">
                <a:latin typeface="Arial"/>
                <a:cs typeface="Arial"/>
              </a:rPr>
              <a:t>"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6C9507-502F-B9E1-EE86-0B903B804E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5319" y="929389"/>
            <a:ext cx="5316069" cy="500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42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EduAI- AI-Powered Early Warning And Academic Support System.</vt:lpstr>
      <vt:lpstr>PowerPoint Presentation</vt:lpstr>
      <vt:lpstr>Project Description:</vt:lpstr>
      <vt:lpstr>SDG Alignment:</vt:lpstr>
      <vt:lpstr>Problem Statement</vt:lpstr>
      <vt:lpstr>AI Solution Overview</vt:lpstr>
      <vt:lpstr>Target Users</vt:lpstr>
      <vt:lpstr>Design Thinking Process</vt:lpstr>
      <vt:lpstr>PowerPoint Presentation</vt:lpstr>
      <vt:lpstr>AI Technology Used</vt:lpstr>
      <vt:lpstr>Project Workflow</vt:lpstr>
      <vt:lpstr>AI Workflow</vt:lpstr>
      <vt:lpstr>PowerPoint Presentation</vt:lpstr>
      <vt:lpstr>Project Architecture</vt:lpstr>
      <vt:lpstr>Prototype </vt:lpstr>
      <vt:lpstr>PowerPoint Presentation</vt:lpstr>
      <vt:lpstr>PowerPoint Presentation</vt:lpstr>
      <vt:lpstr>PowerPoint Presentation</vt:lpstr>
      <vt:lpstr>PowerPoint Presentation</vt:lpstr>
      <vt:lpstr>Responsible AI Considerations</vt:lpstr>
      <vt:lpstr>PowerPoint Presentation</vt:lpstr>
      <vt:lpstr>Expected Impact</vt:lpstr>
      <vt:lpstr>Impact Statement</vt:lpstr>
      <vt:lpstr>Conclusion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966</cp:revision>
  <dcterms:created xsi:type="dcterms:W3CDTF">2026-09-02T09:09:47Z</dcterms:created>
  <dcterms:modified xsi:type="dcterms:W3CDTF">2026-09-11T08:04:00Z</dcterms:modified>
</cp:coreProperties>
</file>